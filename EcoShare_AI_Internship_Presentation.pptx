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94760" cy="6858000"/>
          </a:xfrm>
          <a:prstGeom prst="rect">
            <a:avLst/>
          </a:prstGeom>
          <a:solidFill>
            <a:srgbClr val="134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2743200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EcoShare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2801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3200" b="1">
                <a:solidFill>
                  <a:srgbClr val="AEDE93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057400"/>
            <a:ext cx="274320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Good food.</a:t>
            </a:r>
          </a:p>
          <a:p>
            <a:pPr algn="l">
              <a:spcAft>
                <a:spcPts val="3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Better futures.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64992"/>
            <a:ext cx="27889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0">
                <a:solidFill>
                  <a:srgbClr val="E1F1E2"/>
                </a:solidFill>
                <a:latin typeface="Aptos"/>
              </a:defRPr>
            </a:pPr>
            <a:r>
              <a:t>A role-based food rescue coordination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658368"/>
            <a:ext cx="71323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187D4C"/>
                </a:solidFill>
                <a:latin typeface="Aptos"/>
              </a:defRPr>
            </a:pPr>
            <a:r>
              <a:t>INTERNSHIP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060704"/>
            <a:ext cx="71323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3400" b="1">
                <a:solidFill>
                  <a:srgbClr val="134D35"/>
                </a:solidFill>
                <a:latin typeface="Aptos"/>
              </a:defRPr>
            </a:pPr>
            <a:r>
              <a:t>EcoShare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1810512"/>
            <a:ext cx="70408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900" b="0">
                <a:solidFill>
                  <a:srgbClr val="53695B"/>
                </a:solidFill>
                <a:latin typeface="Aptos"/>
              </a:defRPr>
            </a:pPr>
            <a:r>
              <a:t>AI-Powered Food Rescue Network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468880"/>
            <a:ext cx="28346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670048"/>
            <a:ext cx="24688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87D4C"/>
                </a:solidFill>
                <a:latin typeface="Aptos"/>
              </a:defRPr>
            </a:pPr>
            <a:r>
              <a:t>EDITABLE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63240"/>
            <a:ext cx="2487168" cy="1389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22362B"/>
                </a:solidFill>
                <a:latin typeface="Aptos"/>
              </a:defRPr>
            </a:pPr>
            <a:r>
              <a:t>Student: [Your name]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2362B"/>
                </a:solidFill>
                <a:latin typeface="Aptos"/>
              </a:defRPr>
            </a:pPr>
            <a:r>
              <a:t>College: [College name]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2362B"/>
                </a:solidFill>
                <a:latin typeface="Aptos"/>
              </a:defRPr>
            </a:pPr>
            <a:r>
              <a:t>Guide: [Guide name]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22362B"/>
                </a:solidFill>
                <a:latin typeface="Aptos"/>
              </a:defRPr>
            </a:pPr>
            <a:r>
              <a:t>Internship dates: [Add verified dates]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468880"/>
            <a:ext cx="3429000" cy="2240280"/>
          </a:xfrm>
          <a:prstGeom prst="roundRect">
            <a:avLst/>
          </a:prstGeom>
          <a:solidFill>
            <a:srgbClr val="E6F3E7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724912"/>
            <a:ext cx="29260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87D4C"/>
                </a:solidFill>
                <a:latin typeface="Aptos"/>
              </a:defRPr>
            </a:pPr>
            <a:r>
              <a:t>LOGO PLACEHOLDERS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7" y="3154680"/>
            <a:ext cx="2834640" cy="1143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[Insert college logo]</a:t>
            </a:r>
          </a:p>
          <a:p>
            <a:pPr algn="ctr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</a:p>
          <a:p>
            <a:pPr algn="ctr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[Insert approved project logo]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5166360"/>
            <a:ext cx="67665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53695B"/>
                </a:solidFill>
                <a:latin typeface="Aptos"/>
              </a:defRPr>
            </a:pPr>
            <a:r>
              <a:t>Replace bracketed fields; no personal or college details were assumed.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27080" y="655624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53695B"/>
                </a:solidFill>
                <a:latin typeface="Apto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7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87D4C"/>
                </a:solidFill>
                <a:latin typeface="Aptos"/>
              </a:defRPr>
            </a:pPr>
            <a: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34D35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53695B"/>
                </a:solidFill>
                <a:latin typeface="Aptos"/>
              </a:defRPr>
            </a:pPr>
            <a:r>
              <a:t>A coordination platform prototype with explainable matching and clearly bounded ML claims.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3E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98755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53695B"/>
                </a:solidFill>
                <a:latin typeface="Aptos"/>
              </a:defRPr>
            </a:pPr>
            <a:r>
              <a:t>EcoShare AI  |  Internship project  |  Replace editable placeholders before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5624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53695B"/>
                </a:solidFill>
                <a:latin typeface="Aptos"/>
              </a:defRPr>
            </a:pPr>
            <a:r>
              <a:t>02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00200"/>
            <a:ext cx="35204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46504"/>
            <a:ext cx="3154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30552"/>
            <a:ext cx="3154680" cy="2587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Surplus food is time-sensitive. Donors and organizations need a practical way to discover suitable food, coordinate claims, and follow pickup and delivery states.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600200"/>
            <a:ext cx="352044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746504"/>
            <a:ext cx="3154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Approach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130552"/>
            <a:ext cx="3154680" cy="2587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EcoShare connects donor listings, verified NGO eligibility, factor-based recommendations, role-authorized claims, and rescue-operation tracking in one web application.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600200"/>
            <a:ext cx="3520440" cy="3246120"/>
          </a:xfrm>
          <a:prstGeom prst="roundRect">
            <a:avLst/>
          </a:prstGeom>
          <a:solidFill>
            <a:srgbClr val="E6F3E7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5" y="1746504"/>
            <a:ext cx="3154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Technical contribution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5" y="2130552"/>
            <a:ext cx="3154680" cy="25877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A backend rules engine ranks eligible NGOs. A separate Python Random Forest estimates claim probability; its current training examples and labels are synthetic, so saved metrics are not real-world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57800"/>
            <a:ext cx="1078992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9C5A0D"/>
                </a:solidFill>
                <a:latin typeface="Aptos"/>
              </a:defRPr>
            </a:pPr>
            <a:r>
              <a:t>Scope note: the repository demonstrates implemented software flows; it does not establish measured community or environmental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7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87D4C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34D35"/>
                </a:solidFill>
                <a:latin typeface="Aptos"/>
              </a:defRPr>
            </a:pPr>
            <a:r>
              <a:t>Introduction &amp;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3E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98755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53695B"/>
                </a:solidFill>
                <a:latin typeface="Aptos"/>
              </a:defRPr>
            </a:pPr>
            <a:r>
              <a:t>EcoShare AI  |  Internship project  |  Replace editable placeholders before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5624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53695B"/>
                </a:solidFill>
                <a:latin typeface="Aptos"/>
              </a:defRPr>
            </a:pPr>
            <a:r>
              <a:t>03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349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563624"/>
            <a:ext cx="498347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The coordination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47672"/>
            <a:ext cx="4983479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Food has a limited rescue window. Discovery, organization suitability, contact, and status tracking can be fragmented across manual channels.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17320"/>
            <a:ext cx="5349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563624"/>
            <a:ext cx="498347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947672"/>
            <a:ext cx="4983479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Support a traceable digital workflow that helps authorized participants coordinate redistribution of surplus food.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3520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712463"/>
            <a:ext cx="3154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096511"/>
            <a:ext cx="3154680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Record food, quantity, location, storage details, and expiry.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3566160"/>
            <a:ext cx="3520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3712463"/>
            <a:ext cx="3154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Coordinate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4096511"/>
            <a:ext cx="3154680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Rank eligible NGOs and authorize claims by role.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3566160"/>
            <a:ext cx="35204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3712463"/>
            <a:ext cx="3154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Track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4096511"/>
            <a:ext cx="3154680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Record pickup, delivery, and history states.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806440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9C5A0D"/>
                </a:solidFill>
                <a:latin typeface="Aptos"/>
              </a:defRPr>
            </a:pPr>
            <a:r>
              <a:t>No live impact total or achieved waste reduction is claimed in this presentation.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7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87D4C"/>
                </a:solidFill>
                <a:latin typeface="Aptos"/>
              </a:defRPr>
            </a:pPr>
            <a:r>
              <a:t>PROBLEM AND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34D35"/>
                </a:solidFill>
                <a:latin typeface="Aptos"/>
              </a:defRPr>
            </a:pPr>
            <a:r>
              <a:t>Existing context vs proposed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3E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98755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53695B"/>
                </a:solidFill>
                <a:latin typeface="Aptos"/>
              </a:defRPr>
            </a:pPr>
            <a:r>
              <a:t>EcoShare AI  |  Internship project  |  Replace editable placeholders before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5624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53695B"/>
                </a:solidFill>
                <a:latin typeface="Aptos"/>
              </a:defRPr>
            </a:pPr>
            <a:r>
              <a:t>04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5212080" cy="4069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55063"/>
            <a:ext cx="48463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Existing coordination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39112"/>
            <a:ext cx="4846320" cy="3410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• Food offers and recipient needs may be communicated separately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• Matching and logistics can depend on manual comparison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• Pickup progress may be difficult to trace across participants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Baseline caveat: this describes the project problem context, not a measured comparison against named platforms.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508760"/>
            <a:ext cx="5212080" cy="4069080"/>
          </a:xfrm>
          <a:prstGeom prst="roundRect">
            <a:avLst/>
          </a:prstGeom>
          <a:solidFill>
            <a:srgbClr val="E6F3E7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55063"/>
            <a:ext cx="48463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Proposed EcoShare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39112"/>
            <a:ext cx="4846320" cy="34107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• Shared donation and organization records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• Verification-aware eligibility and explainable recommendations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• JWT and role-based authorization for claims and operations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• Status and history views for rescue coordination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7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87D4C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34D35"/>
                </a:solidFill>
                <a:latin typeface="Aptos"/>
              </a:defRPr>
            </a:pPr>
            <a:r>
              <a:t>System architecture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53695B"/>
                </a:solidFill>
                <a:latin typeface="Aptos"/>
              </a:defRPr>
            </a:pPr>
            <a:r>
              <a:t>Existing repository stack; the Python model is separate from the rules-based matching engine.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3E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98755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53695B"/>
                </a:solidFill>
                <a:latin typeface="Aptos"/>
              </a:defRPr>
            </a:pPr>
            <a:r>
              <a:t>EcoShare AI  |  Internship project  |  Replace editable placeholders before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5624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53695B"/>
                </a:solidFill>
                <a:latin typeface="Aptos"/>
              </a:defRPr>
            </a:pPr>
            <a:r>
              <a:t>05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38528"/>
            <a:ext cx="187451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48840"/>
            <a:ext cx="1655064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134D35"/>
                </a:solidFill>
                <a:latin typeface="Aptos"/>
              </a:defRPr>
            </a:pPr>
            <a:r>
              <a:t>React + Vite</a:t>
            </a:r>
          </a:p>
          <a:p>
            <a:pPr algn="ctr">
              <a:spcAft>
                <a:spcPts val="300"/>
              </a:spcAft>
              <a:defRPr sz="1300" b="1">
                <a:solidFill>
                  <a:srgbClr val="134D35"/>
                </a:solidFill>
                <a:latin typeface="Aptos"/>
              </a:defRPr>
            </a:pPr>
            <a:r>
              <a:t>role-based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1938528"/>
            <a:ext cx="187451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81528" y="2148840"/>
            <a:ext cx="1655064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134D35"/>
                </a:solidFill>
                <a:latin typeface="Aptos"/>
              </a:defRPr>
            </a:pPr>
            <a:r>
              <a:t>Express REST API</a:t>
            </a:r>
          </a:p>
          <a:p>
            <a:pPr algn="ctr">
              <a:spcAft>
                <a:spcPts val="300"/>
              </a:spcAft>
              <a:defRPr sz="1300" b="1">
                <a:solidFill>
                  <a:srgbClr val="134D35"/>
                </a:solidFill>
                <a:latin typeface="Aptos"/>
              </a:defRPr>
            </a:pPr>
            <a:r>
              <a:t>JWT + role 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938528"/>
            <a:ext cx="187451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13248" y="2148840"/>
            <a:ext cx="1655064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134D35"/>
                </a:solidFill>
                <a:latin typeface="Aptos"/>
              </a:defRPr>
            </a:pPr>
            <a:r>
              <a:t>MongoDB</a:t>
            </a:r>
          </a:p>
          <a:p>
            <a:pPr algn="ctr">
              <a:spcAft>
                <a:spcPts val="300"/>
              </a:spcAft>
              <a:defRPr sz="1300" b="1">
                <a:solidFill>
                  <a:srgbClr val="134D35"/>
                </a:solidFill>
                <a:latin typeface="Aptos"/>
              </a:defRPr>
            </a:pPr>
            <a:r>
              <a:t>Mongoose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938528"/>
            <a:ext cx="187451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44967" y="2148840"/>
            <a:ext cx="1655064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134D35"/>
                </a:solidFill>
                <a:latin typeface="Aptos"/>
              </a:defRPr>
            </a:pPr>
            <a:r>
              <a:t>Matching rules</a:t>
            </a:r>
          </a:p>
          <a:p>
            <a:pPr algn="ctr">
              <a:spcAft>
                <a:spcPts val="300"/>
              </a:spcAft>
              <a:defRPr sz="1300" b="1">
                <a:solidFill>
                  <a:srgbClr val="134D35"/>
                </a:solidFill>
                <a:latin typeface="Aptos"/>
              </a:defRPr>
            </a:pPr>
            <a:r>
              <a:t>rank + reasons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960" y="1938528"/>
            <a:ext cx="187451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76688" y="2148840"/>
            <a:ext cx="1655064" cy="60350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134D35"/>
                </a:solidFill>
                <a:latin typeface="Aptos"/>
              </a:defRPr>
            </a:pPr>
            <a:r>
              <a:t>Python model</a:t>
            </a:r>
          </a:p>
          <a:p>
            <a:pPr algn="ctr">
              <a:spcAft>
                <a:spcPts val="300"/>
              </a:spcAft>
              <a:defRPr sz="1300" b="1">
                <a:solidFill>
                  <a:srgbClr val="134D35"/>
                </a:solidFill>
                <a:latin typeface="Aptos"/>
              </a:defRPr>
            </a:pPr>
            <a:r>
              <a:t>claim estimate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578608" y="2304288"/>
            <a:ext cx="301752" cy="256032"/>
          </a:xfrm>
          <a:prstGeom prst="rightArrow">
            <a:avLst/>
          </a:prstGeom>
          <a:solidFill>
            <a:srgbClr val="73B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4910328" y="2304288"/>
            <a:ext cx="301752" cy="256032"/>
          </a:xfrm>
          <a:prstGeom prst="rightArrow">
            <a:avLst/>
          </a:prstGeom>
          <a:solidFill>
            <a:srgbClr val="73B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7242048" y="2304288"/>
            <a:ext cx="301752" cy="256032"/>
          </a:xfrm>
          <a:prstGeom prst="rightArrow">
            <a:avLst/>
          </a:prstGeom>
          <a:solidFill>
            <a:srgbClr val="73B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9573768" y="2304288"/>
            <a:ext cx="301752" cy="256032"/>
          </a:xfrm>
          <a:prstGeom prst="rightArrow">
            <a:avLst/>
          </a:prstGeom>
          <a:solidFill>
            <a:srgbClr val="73B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356616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12463"/>
            <a:ext cx="3063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Core modules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096511"/>
            <a:ext cx="306324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Donations, organizations, claims, operations, analytics, history, notifications, and EcoBot.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56616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712463"/>
            <a:ext cx="3063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Live 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096511"/>
            <a:ext cx="306324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Socket.IO is integrated. External email, SMS, WhatsApp, geocoding, and route providers require configuration.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566160"/>
            <a:ext cx="3429000" cy="1508760"/>
          </a:xfrm>
          <a:prstGeom prst="roundRect">
            <a:avLst/>
          </a:prstGeom>
          <a:solidFill>
            <a:srgbClr val="E6F3E7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3712463"/>
            <a:ext cx="3063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Persistence &amp; 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096511"/>
            <a:ext cx="3063240" cy="8503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MongoDB stores platform records; API authorization scopes operations by authenticated role.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532120"/>
            <a:ext cx="10424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9C5A0D"/>
                </a:solidFill>
                <a:latin typeface="Aptos"/>
              </a:defRPr>
            </a:pPr>
            <a:r>
              <a:t>Maps and development routing may show client maps or estimates without proving a live route/tile service.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7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87D4C"/>
                </a:solidFill>
                <a:latin typeface="Aptos"/>
              </a:defRPr>
            </a:pPr>
            <a:r>
              <a:t>AIML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34D35"/>
                </a:solidFill>
                <a:latin typeface="Aptos"/>
              </a:defRPr>
            </a:pPr>
            <a:r>
              <a:t>Methodology: explainable matching + separate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3E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98755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53695B"/>
                </a:solidFill>
                <a:latin typeface="Aptos"/>
              </a:defRPr>
            </a:pPr>
            <a:r>
              <a:t>EcoShare AI  |  Internship project  |  Replace editable placeholders before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5624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53695B"/>
                </a:solidFill>
                <a:latin typeface="Aptos"/>
              </a:defRPr>
            </a:pPr>
            <a:r>
              <a:t>06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1783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709928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87D4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664208"/>
            <a:ext cx="123444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34D35"/>
                </a:solidFill>
                <a:latin typeface="Aptos"/>
              </a:defRPr>
            </a:pPr>
            <a:r>
              <a:t>Donation</a:t>
            </a:r>
          </a:p>
          <a:p>
            <a:pPr algn="ctr">
              <a:spcAft>
                <a:spcPts val="300"/>
              </a:spcAft>
              <a:defRPr sz="1200" b="1">
                <a:solidFill>
                  <a:srgbClr val="134D35"/>
                </a:solidFill>
                <a:latin typeface="Aptos"/>
              </a:defRPr>
            </a:pPr>
            <a:r>
              <a:t>recorded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1554480"/>
            <a:ext cx="1783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8376" y="1709928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87D4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664208"/>
            <a:ext cx="123444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34D35"/>
                </a:solidFill>
                <a:latin typeface="Aptos"/>
              </a:defRPr>
            </a:pPr>
            <a:r>
              <a:t>Eligibility</a:t>
            </a:r>
          </a:p>
          <a:p>
            <a:pPr algn="ctr">
              <a:spcAft>
                <a:spcPts val="300"/>
              </a:spcAft>
              <a:defRPr sz="1200" b="1">
                <a:solidFill>
                  <a:srgbClr val="134D35"/>
                </a:solidFill>
                <a:latin typeface="Aptos"/>
              </a:defRPr>
            </a:pPr>
            <a:r>
              <a:t>filters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02936" y="1554480"/>
            <a:ext cx="1783080" cy="987552"/>
          </a:xfrm>
          <a:prstGeom prst="roundRect">
            <a:avLst/>
          </a:prstGeom>
          <a:solidFill>
            <a:srgbClr val="E6F3E7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12664" y="1709928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87D4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1664208"/>
            <a:ext cx="123444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34D35"/>
                </a:solidFill>
                <a:latin typeface="Aptos"/>
              </a:defRPr>
            </a:pPr>
            <a:r>
              <a:t>Weighted</a:t>
            </a:r>
          </a:p>
          <a:p>
            <a:pPr algn="ctr">
              <a:spcAft>
                <a:spcPts val="300"/>
              </a:spcAft>
              <a:defRPr sz="1200" b="1">
                <a:solidFill>
                  <a:srgbClr val="134D35"/>
                </a:solidFill>
                <a:latin typeface="Aptos"/>
              </a:defRPr>
            </a:pPr>
            <a:r>
              <a:t>rules score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07224" y="1554480"/>
            <a:ext cx="1783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6952" y="1709928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87D4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0416" y="1664208"/>
            <a:ext cx="123444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34D35"/>
                </a:solidFill>
                <a:latin typeface="Aptos"/>
              </a:defRPr>
            </a:pPr>
            <a:r>
              <a:t>Ranked NGOs</a:t>
            </a:r>
          </a:p>
          <a:p>
            <a:pPr algn="ctr">
              <a:spcAft>
                <a:spcPts val="300"/>
              </a:spcAft>
              <a:defRPr sz="1200" b="1">
                <a:solidFill>
                  <a:srgbClr val="134D35"/>
                </a:solidFill>
                <a:latin typeface="Aptos"/>
              </a:defRPr>
            </a:pPr>
            <a:r>
              <a:t>+ reasons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11512" y="1554480"/>
            <a:ext cx="1783080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1709928"/>
            <a:ext cx="274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300" b="1">
                <a:solidFill>
                  <a:srgbClr val="187D4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04704" y="1664208"/>
            <a:ext cx="1234440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134D35"/>
                </a:solidFill>
                <a:latin typeface="Aptos"/>
              </a:defRPr>
            </a:pPr>
            <a:r>
              <a:t>Authorized</a:t>
            </a:r>
          </a:p>
          <a:p>
            <a:pPr algn="ctr">
              <a:spcAft>
                <a:spcPts val="300"/>
              </a:spcAft>
              <a:defRPr sz="1200" b="1">
                <a:solidFill>
                  <a:srgbClr val="134D35"/>
                </a:solidFill>
                <a:latin typeface="Aptos"/>
              </a:defRPr>
            </a:pPr>
            <a:r>
              <a:t>claim &amp; rescue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450592" y="1883664"/>
            <a:ext cx="310896" cy="246888"/>
          </a:xfrm>
          <a:prstGeom prst="rightArrow">
            <a:avLst/>
          </a:prstGeom>
          <a:solidFill>
            <a:srgbClr val="73B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4754880" y="1883664"/>
            <a:ext cx="310896" cy="246888"/>
          </a:xfrm>
          <a:prstGeom prst="rightArrow">
            <a:avLst/>
          </a:prstGeom>
          <a:solidFill>
            <a:srgbClr val="73B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7059168" y="1883664"/>
            <a:ext cx="310896" cy="246888"/>
          </a:xfrm>
          <a:prstGeom prst="rightArrow">
            <a:avLst/>
          </a:prstGeom>
          <a:solidFill>
            <a:srgbClr val="73B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9363456" y="1883664"/>
            <a:ext cx="310896" cy="246888"/>
          </a:xfrm>
          <a:prstGeom prst="rightArrow">
            <a:avLst/>
          </a:prstGeom>
          <a:solidFill>
            <a:srgbClr val="73B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" y="2971800"/>
            <a:ext cx="53035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118104"/>
            <a:ext cx="493775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Rule-based recommendation factors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3502152"/>
            <a:ext cx="4937759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Verified/active eligibility; category and refrigeration compatibility; distance or estimated travel time; pickup radius; remaining capacity; expiry urgency; operating hours; emergency pickup; and recorded reliability.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2971800"/>
            <a:ext cx="5303520" cy="2148840"/>
          </a:xfrm>
          <a:prstGeom prst="roundRect">
            <a:avLst/>
          </a:prstGeom>
          <a:solidFill>
            <a:srgbClr val="E6F3E7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82512" y="3118104"/>
            <a:ext cx="493775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Claim-probability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3502152"/>
            <a:ext cx="4937759" cy="1490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RandomForestClassifier (100 trees, max depth 7). Inputs include distance, quantity, shelf life, capacity, category, urgency, and refrigeration. Synthetic formula-generated labels mean it requires real-outcome validation.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440680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9C5A0D"/>
                </a:solidFill>
                <a:latin typeface="Aptos"/>
              </a:defRPr>
            </a:pPr>
            <a:r>
              <a:t>Scores prioritize coordination; they do not guarantee a claim, delivery, or food safety. A deterministic fallback is labelled as a fallback, not an ML prediction.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7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87D4C"/>
                </a:solidFill>
                <a:latin typeface="Aptos"/>
              </a:defRPr>
            </a:pPr>
            <a:r>
              <a:t>VERIFIED SOURCES, 2020-2026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34D35"/>
                </a:solidFill>
                <a:latin typeface="Aptos"/>
              </a:defRPr>
            </a:pPr>
            <a:r>
              <a:t>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53695B"/>
                </a:solidFill>
                <a:latin typeface="Aptos"/>
              </a:defRPr>
            </a:pPr>
            <a:r>
              <a:t>Selected references frame the food-waste problem and the need for interpretable 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3E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98755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53695B"/>
                </a:solidFill>
                <a:latin typeface="Aptos"/>
              </a:defRPr>
            </a:pPr>
            <a:r>
              <a:t>EcoShare AI  |  Internship project  |  Replace editable placeholders before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5624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53695B"/>
                </a:solidFill>
                <a:latin typeface="Aptos"/>
              </a:defRPr>
            </a:pPr>
            <a:r>
              <a:t>07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481328"/>
            <a:ext cx="3520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627632"/>
            <a:ext cx="3154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UNEP (2024)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011680"/>
            <a:ext cx="3154680" cy="3593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2362B"/>
                </a:solidFill>
                <a:latin typeface="Aptos"/>
              </a:defRPr>
            </a:pPr>
            <a:r>
              <a:t>Food Waste Index Report 2024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2362B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2362B"/>
                </a:solidFill>
                <a:latin typeface="Aptos"/>
              </a:defRPr>
            </a:pPr>
            <a:r>
              <a:t>Expands measurement guidance and discusses approaches to food-waste reduction. It motivates accurate measurement; it does not quantify EcoShare impact.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2362B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2362B"/>
                </a:solidFill>
                <a:latin typeface="Aptos"/>
              </a:defRPr>
            </a:pPr>
            <a:r>
              <a:t>Official report page: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2362B"/>
                </a:solidFill>
                <a:latin typeface="Aptos"/>
              </a:defRPr>
            </a:pPr>
            <a:r>
              <a:t>unep.org/resources/publication/food-waste-index-report-2024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1481328"/>
            <a:ext cx="3520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627632"/>
            <a:ext cx="3154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Zhu et al. (2023)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011680"/>
            <a:ext cx="3154680" cy="3593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2362B"/>
                </a:solidFill>
                <a:latin typeface="Aptos"/>
              </a:defRPr>
            </a:pPr>
            <a:r>
              <a:t>Cradle-to-grave emissions from food loss and waste represent half of total greenhouse gas emissions from food systems.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2362B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2362B"/>
                </a:solidFill>
                <a:latin typeface="Aptos"/>
              </a:defRPr>
            </a:pPr>
            <a:r>
              <a:t>Nature Food, 4, 247-256.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2362B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2362B"/>
                </a:solidFill>
                <a:latin typeface="Aptos"/>
              </a:defRPr>
            </a:pPr>
            <a:r>
              <a:t>DOI: 10.1038/s43016-023-00710-3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2362B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2362B"/>
                </a:solidFill>
                <a:latin typeface="Aptos"/>
              </a:defRPr>
            </a:pPr>
            <a:r>
              <a:t>Provides lifecycle context for why food loss and waste matter.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481328"/>
            <a:ext cx="3520440" cy="4251960"/>
          </a:xfrm>
          <a:prstGeom prst="roundRect">
            <a:avLst/>
          </a:prstGeom>
          <a:solidFill>
            <a:srgbClr val="E6F3E7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3" y="1627632"/>
            <a:ext cx="31546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Barredo Arrieta et al. (2020)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3" y="2011680"/>
            <a:ext cx="3154680" cy="3593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22362B"/>
                </a:solidFill>
                <a:latin typeface="Aptos"/>
              </a:defRPr>
            </a:pPr>
            <a:r>
              <a:t>Explainable Artificial Intelligence (XAI): Concepts, taxonomies, opportunities and challenges toward responsible AI.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2362B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2362B"/>
                </a:solidFill>
                <a:latin typeface="Aptos"/>
              </a:defRPr>
            </a:pPr>
            <a:r>
              <a:t>Information Fusion, 58, 82-115.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2362B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2362B"/>
                </a:solidFill>
                <a:latin typeface="Aptos"/>
              </a:defRPr>
            </a:pPr>
            <a:r>
              <a:t>DOI: 10.1016/j.inffus.2019.12.012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2362B"/>
                </a:solidFill>
                <a:latin typeface="Aptos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22362B"/>
                </a:solidFill>
                <a:latin typeface="Aptos"/>
              </a:defRPr>
            </a:pPr>
            <a:r>
              <a:t>Supports explaining model outputs and limitations.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870448"/>
            <a:ext cx="1078992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53695B"/>
                </a:solidFill>
                <a:latin typeface="Aptos"/>
              </a:defRPr>
            </a:pPr>
            <a:r>
              <a:t>Bibliographic metadata checked against UNEP and Crossref/publisher DOI records. No source is presented as a validation study of this application.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7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87D4C"/>
                </a:solidFill>
                <a:latin typeface="Aptos"/>
              </a:defRPr>
            </a:pPr>
            <a:r>
              <a:t>REPOSITORY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34D35"/>
                </a:solidFill>
                <a:latin typeface="Aptos"/>
              </a:defRPr>
            </a:pPr>
            <a:r>
              <a:t>Implementation &amp;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53695B"/>
                </a:solidFill>
                <a:latin typeface="Aptos"/>
              </a:defRPr>
            </a:pPr>
            <a:r>
              <a:t>Values below come from the checked-in model artifact and training script, not production traffic.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3E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65392"/>
            <a:ext cx="98755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53695B"/>
                </a:solidFill>
                <a:latin typeface="Aptos"/>
              </a:defRPr>
            </a:pPr>
            <a:r>
              <a:t>EcoShare AI  |  Internship project  |  Replace editable placeholders before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080" y="655624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53695B"/>
                </a:solidFill>
                <a:latin typeface="Aptos"/>
              </a:defRPr>
            </a:pPr>
            <a:r>
              <a:t>08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5349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563624"/>
            <a:ext cx="498347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Implementation present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47672"/>
            <a:ext cx="4983479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React/Vite UI; Express/Mongoose API; JWT role checks; explainable NGO scoring; Python Random Forest inference; and rescue status/history workflows.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17320"/>
            <a:ext cx="5349240" cy="1828800"/>
          </a:xfrm>
          <a:prstGeom prst="roundRect">
            <a:avLst/>
          </a:prstGeom>
          <a:solidFill>
            <a:srgbClr val="E6F3E7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563624"/>
            <a:ext cx="498347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Stored artifact holdout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947672"/>
            <a:ext cx="4983479" cy="11704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ROC-AUC 0.8501  |  Accuracy 0.8117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Precision 0.8253  |  Recall 0.9197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F1-score 0.8700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74720"/>
            <a:ext cx="5349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21024"/>
            <a:ext cx="498347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Required 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05072"/>
            <a:ext cx="4983479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Training script generates 3,000 synthetic examples and labels them by sampling from a hand-written logistic formula. The reported random holdout metrics measure this synthetic setup only; they are not real-world claim-success performance.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474720"/>
            <a:ext cx="534924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3621024"/>
            <a:ext cx="498347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Evidence still needed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005072"/>
            <a:ext cx="4983479" cy="12618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A governed real claim/delivery dataset, time- or organization-separated evaluation, calibration and fairness checks, partner workflow trials, and verified deployment/provider checks.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42432"/>
            <a:ext cx="106984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9C5A0D"/>
                </a:solidFill>
                <a:latin typeface="Aptos"/>
              </a:defRPr>
            </a:pPr>
            <a:r>
              <a:t>No confusion matrix is included in the current saved artifact. Re-run the training pipeline to regenerate reproducible synthetic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7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87D4C"/>
                </a:solidFill>
                <a:latin typeface="Aptos"/>
              </a:defRPr>
            </a:pPr>
            <a: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34D35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3E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98755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53695B"/>
                </a:solidFill>
                <a:latin typeface="Aptos"/>
              </a:defRPr>
            </a:pPr>
            <a:r>
              <a:t>EcoShare AI  |  Internship project  |  Replace editable placeholders before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5624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53695B"/>
                </a:solidFill>
                <a:latin typeface="Aptos"/>
              </a:defRPr>
            </a:pPr>
            <a:r>
              <a:t>09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0744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81912"/>
            <a:ext cx="347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87D4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63624"/>
            <a:ext cx="9829800" cy="6949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2362B"/>
                </a:solidFill>
                <a:latin typeface="Aptos"/>
              </a:defRPr>
            </a:pPr>
            <a:r>
              <a:t>United Nations Environment Programme (2024). Food Waste Index Report 2024.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13432"/>
            <a:ext cx="9829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87D4C"/>
                </a:solidFill>
                <a:latin typeface="Aptos"/>
              </a:defRPr>
            </a:pPr>
            <a:r>
              <a:t>Official report page: https://www.unep.org/resources/publication/food-waste-index-report-2024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53512"/>
            <a:ext cx="10744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18104"/>
            <a:ext cx="347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87D4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99816"/>
            <a:ext cx="9829800" cy="6949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2362B"/>
                </a:solidFill>
                <a:latin typeface="Aptos"/>
              </a:defRPr>
            </a:pPr>
            <a:r>
              <a:t>Zhu, J., Luo, Z., Sun, T., Li, W., Zhou, W., Wang, X., Fei, X., Tong, H., &amp; Yin, K. (2023). Cradle-to-grave emissions from food loss and waste represent half of total greenhouse gas emissions from food systems. Nature Food, 4, 247-256.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49624"/>
            <a:ext cx="9829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87D4C"/>
                </a:solidFill>
                <a:latin typeface="Aptos"/>
              </a:defRPr>
            </a:pPr>
            <a:r>
              <a:t>https://doi.org/10.1038/s43016-023-00710-3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9704"/>
            <a:ext cx="107442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654296"/>
            <a:ext cx="347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187D4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636008"/>
            <a:ext cx="9829800" cy="6949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22362B"/>
                </a:solidFill>
                <a:latin typeface="Aptos"/>
              </a:defRPr>
            </a:pPr>
            <a:r>
              <a:t>Barredo Arrieta, A. et al. (2020). Explainable Artificial Intelligence (XAI): Concepts, taxonomies, opportunities and challenges toward responsible AI. Information Fusion, 58, 82-115.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385816"/>
            <a:ext cx="9829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87D4C"/>
                </a:solidFill>
                <a:latin typeface="Aptos"/>
              </a:defRPr>
            </a:pPr>
            <a:r>
              <a:t>https://doi.org/10.1016/j.inffus.2019.12.012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6236208"/>
            <a:ext cx="105156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53695B"/>
                </a:solidFill>
                <a:latin typeface="Aptos"/>
              </a:defRPr>
            </a:pPr>
            <a:r>
              <a:t>Metadata cross-checked with official UNEP and DOI/Crossref records. Accessed for this presentation in 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87D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012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187D4C"/>
                </a:solidFill>
                <a:latin typeface="Aptos"/>
              </a:defRPr>
            </a:pPr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2500" b="1">
                <a:solidFill>
                  <a:srgbClr val="134D35"/>
                </a:solidFill>
                <a:latin typeface="Aptos"/>
              </a:defRPr>
            </a:pPr>
            <a:r>
              <a:t>Conclusion &amp; future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510528"/>
            <a:ext cx="11155680" cy="10972"/>
          </a:xfrm>
          <a:prstGeom prst="rect">
            <a:avLst/>
          </a:prstGeom>
          <a:solidFill>
            <a:srgbClr val="D3E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565392"/>
            <a:ext cx="987552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800" b="0">
                <a:solidFill>
                  <a:srgbClr val="53695B"/>
                </a:solidFill>
                <a:latin typeface="Aptos"/>
              </a:defRPr>
            </a:pPr>
            <a:r>
              <a:t>EcoShare AI  |  Internship project  |  Replace editable placeholders before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556248"/>
            <a:ext cx="685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300"/>
              </a:spcAft>
              <a:defRPr sz="800" b="0">
                <a:solidFill>
                  <a:srgbClr val="53695B"/>
                </a:solidFill>
                <a:latin typeface="Aptos"/>
              </a:defRPr>
            </a:pPr>
            <a:r>
              <a:t>10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52578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563624"/>
            <a:ext cx="4892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47672"/>
            <a:ext cx="4892040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EcoShare provides a role-based workflow for food listings, explainable NGO recommendations, authorized claims, and rescue progress tracking. The rules engine and claim model are distinct components.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417320"/>
            <a:ext cx="5257800" cy="2057400"/>
          </a:xfrm>
          <a:prstGeom prst="roundRect">
            <a:avLst/>
          </a:prstGeom>
          <a:solidFill>
            <a:srgbClr val="E6F3E7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563624"/>
            <a:ext cx="4892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47672"/>
            <a:ext cx="4892040" cy="1399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Collect governed operational outcomes; retrain and evaluate outside the synthetic setup; validate complete role-based rescue flows with partners; and monitor configured services and routing.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703320"/>
            <a:ext cx="52578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849624"/>
            <a:ext cx="4892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AIML concepts demonstrated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233672"/>
            <a:ext cx="48920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Supervised classification, feature encoding, train/test split, probability estimates, precision/recall/F1/ROC-AUC, interpretability, and data-provenance limits.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703320"/>
            <a:ext cx="52578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E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849624"/>
            <a:ext cx="48920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34D35"/>
                </a:solidFill>
                <a:latin typeface="Aptos"/>
              </a:defRPr>
            </a:pPr>
            <a:r>
              <a:t>Internship progress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233672"/>
            <a:ext cx="489204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22362B"/>
                </a:solidFill>
                <a:latin typeface="Aptos"/>
              </a:defRPr>
            </a:pPr>
            <a:r>
              <a:t>A dated weekly activity log was not present in the verified project evidence. Add your actual week-by-week tasks and guide-approved dates; do not infer completed 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5623560"/>
            <a:ext cx="2377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300"/>
              </a:spcAft>
              <a:defRPr sz="2000" b="1">
                <a:solidFill>
                  <a:srgbClr val="187D4C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EcoShare AI Internship Presentation</dc:title>
  <dc:subject>Editable project presentation based on verified repository evidence</dc:subject>
  <dc:creator>EcoShare AI project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